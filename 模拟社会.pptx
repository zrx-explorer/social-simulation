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0" r:id="rId5"/>
    <p:sldId id="257" r:id="rId6"/>
    <p:sldId id="258" r:id="rId7"/>
    <p:sldId id="262" r:id="rId8"/>
    <p:sldId id="261"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255"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76D32DA-9DC6-43F0-A1F3-FFA6956312C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1FEBB3-5465-4E83-8B4B-F8C0E6058A0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6D32DA-9DC6-43F0-A1F3-FFA6956312C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FEBB3-5465-4E83-8B4B-F8C0E6058A0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GIF"/><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模拟社会</a:t>
            </a:r>
            <a:br>
              <a:rPr lang="en-US" altLang="zh-CN" dirty="0"/>
            </a:br>
            <a:r>
              <a:rPr lang="en-US" altLang="zh-CN" dirty="0"/>
              <a:t>Simulation society</a:t>
            </a:r>
            <a:endParaRPr lang="zh-CN" altLang="en-US" dirty="0"/>
          </a:p>
        </p:txBody>
      </p:sp>
      <p:sp>
        <p:nvSpPr>
          <p:cNvPr id="3" name="副标题 2"/>
          <p:cNvSpPr>
            <a:spLocks noGrp="1"/>
          </p:cNvSpPr>
          <p:nvPr>
            <p:ph type="subTitle" idx="1"/>
          </p:nvPr>
        </p:nvSpPr>
        <p:spPr/>
        <p:txBody>
          <a:bodyPr/>
          <a:lstStyle/>
          <a:p>
            <a:r>
              <a:rPr lang="en-US" altLang="zh-CN" dirty="0" err="1"/>
              <a:t>zrx</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模拟经营游戏</a:t>
            </a:r>
            <a:r>
              <a:rPr lang="en-US" altLang="zh-CN" b="1" dirty="0"/>
              <a:t>Business simulation game</a:t>
            </a:r>
            <a:endParaRPr lang="zh-CN" altLang="en-US" dirty="0"/>
          </a:p>
        </p:txBody>
      </p:sp>
      <p:pic>
        <p:nvPicPr>
          <p:cNvPr id="2050" name="Picture 2" descr="钢铁雄心 的图像结果"/>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228104" y="1533525"/>
            <a:ext cx="4547619" cy="22180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群星 的图像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5240" y="1375739"/>
            <a:ext cx="3857625" cy="25336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文明六 的图像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710" y="4052887"/>
            <a:ext cx="4090320" cy="271670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魔兽争霸 的图像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959225"/>
            <a:ext cx="4000500" cy="2533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zh-CN" altLang="en-US" dirty="0"/>
              <a:t>如何描述社会的运转？</a:t>
            </a:r>
            <a:endParaRPr lang="en-US" altLang="zh-CN" dirty="0"/>
          </a:p>
          <a:p>
            <a:pPr marL="0" indent="0">
              <a:buNone/>
            </a:pPr>
            <a:r>
              <a:rPr lang="zh-CN" altLang="en-US" dirty="0"/>
              <a:t>可否用模拟的方法简单量化社会的运作方式？</a:t>
            </a:r>
            <a:endParaRPr lang="en-US" altLang="zh-CN" dirty="0"/>
          </a:p>
          <a:p>
            <a:pPr marL="0" indent="0">
              <a:buNone/>
            </a:pPr>
            <a:r>
              <a:rPr lang="en-US" altLang="zh-CN" dirty="0"/>
              <a:t>How to describe the functioning of society? </a:t>
            </a:r>
            <a:endParaRPr lang="en-US" altLang="zh-CN" dirty="0"/>
          </a:p>
          <a:p>
            <a:pPr marL="0" indent="0">
              <a:buNone/>
            </a:pPr>
            <a:r>
              <a:rPr lang="en-US" altLang="zh-CN" dirty="0"/>
              <a:t>Can simulation be used to easily quantify how society works</a:t>
            </a:r>
            <a:r>
              <a:rPr lang="zh-CN" altLang="en-US" dirty="0"/>
              <a:t>？</a:t>
            </a:r>
            <a:endParaRPr lang="en-US" altLang="zh-CN" dirty="0"/>
          </a:p>
          <a:p>
            <a:pPr marL="0" indent="0">
              <a:buNone/>
            </a:pPr>
            <a:endParaRPr lang="en-US" altLang="zh-CN" dirty="0"/>
          </a:p>
          <a:p>
            <a:pPr marL="0" indent="0">
              <a:buNone/>
            </a:pPr>
            <a:r>
              <a:rPr lang="zh-CN" altLang="en-US" dirty="0"/>
              <a:t>从一个小问题切入：税收对各阶层的影响，废止农业税是否是必然？</a:t>
            </a:r>
            <a:endParaRPr lang="en-US" altLang="zh-CN" dirty="0"/>
          </a:p>
          <a:p>
            <a:pPr marL="0" indent="0">
              <a:buNone/>
            </a:pPr>
            <a:r>
              <a:rPr lang="en-US" altLang="zh-CN" dirty="0"/>
              <a:t>Starting with a small question: the impact of the tax on all classes</a:t>
            </a:r>
            <a:r>
              <a:rPr lang="zh-CN" altLang="en-US" dirty="0"/>
              <a:t>？</a:t>
            </a:r>
            <a:r>
              <a:rPr lang="en-US" altLang="zh-CN" dirty="0"/>
              <a:t>Is the abolishment of the agricultural tax be inevitable?</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连接符: 曲线 19"/>
          <p:cNvCxnSpPr>
            <a:stCxn id="1026" idx="1"/>
          </p:cNvCxnSpPr>
          <p:nvPr/>
        </p:nvCxnSpPr>
        <p:spPr>
          <a:xfrm rot="10800000">
            <a:off x="6034023" y="1701493"/>
            <a:ext cx="2568703" cy="3613597"/>
          </a:xfrm>
          <a:prstGeom prst="curvedConnector2">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曲线 33"/>
          <p:cNvCxnSpPr/>
          <p:nvPr/>
        </p:nvCxnSpPr>
        <p:spPr>
          <a:xfrm rot="16200000" flipV="1">
            <a:off x="6405684" y="1263787"/>
            <a:ext cx="3295209" cy="2535857"/>
          </a:xfrm>
          <a:prstGeom prst="curved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卡通施工人员矢量素材免费下载 - 觅知网"/>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602725" y="4179321"/>
            <a:ext cx="1817228" cy="22715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手绘卡通农民丰收喜悦场景元素PNG图片素材下载_农民PNG_熊猫办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490" y="4179321"/>
            <a:ext cx="2271534" cy="22715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管理员图标素材图片免费下载-千库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3114" y="66733"/>
            <a:ext cx="1632246" cy="163475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连接符: 曲线 5"/>
          <p:cNvCxnSpPr>
            <a:stCxn id="1028" idx="3"/>
            <a:endCxn id="1030" idx="2"/>
          </p:cNvCxnSpPr>
          <p:nvPr/>
        </p:nvCxnSpPr>
        <p:spPr>
          <a:xfrm flipV="1">
            <a:off x="3753024" y="1701490"/>
            <a:ext cx="2216213" cy="3613598"/>
          </a:xfrm>
          <a:prstGeom prst="curved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3753024" y="5990206"/>
            <a:ext cx="4849701" cy="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075917" y="564022"/>
            <a:ext cx="1965533" cy="830997"/>
          </a:xfrm>
          <a:prstGeom prst="rect">
            <a:avLst/>
          </a:prstGeom>
          <a:noFill/>
        </p:spPr>
        <p:txBody>
          <a:bodyPr wrap="square" rtlCol="0">
            <a:spAutoFit/>
          </a:bodyPr>
          <a:lstStyle/>
          <a:p>
            <a:r>
              <a:rPr lang="zh-CN" altLang="en-US" sz="2400" b="1" dirty="0"/>
              <a:t>公务员</a:t>
            </a:r>
            <a:endParaRPr lang="en-US" altLang="zh-CN" sz="2400" b="1" dirty="0"/>
          </a:p>
          <a:p>
            <a:r>
              <a:rPr lang="en-US" altLang="zh-CN" sz="2400" b="1" dirty="0"/>
              <a:t>civil servant</a:t>
            </a:r>
            <a:endParaRPr lang="zh-CN" altLang="en-US" sz="2400" b="1" dirty="0"/>
          </a:p>
        </p:txBody>
      </p:sp>
      <p:sp>
        <p:nvSpPr>
          <p:cNvPr id="17" name="文本框 16"/>
          <p:cNvSpPr txBox="1"/>
          <p:nvPr/>
        </p:nvSpPr>
        <p:spPr>
          <a:xfrm>
            <a:off x="169440" y="5019230"/>
            <a:ext cx="1511227" cy="830997"/>
          </a:xfrm>
          <a:prstGeom prst="rect">
            <a:avLst/>
          </a:prstGeom>
          <a:noFill/>
        </p:spPr>
        <p:txBody>
          <a:bodyPr wrap="square" rtlCol="0">
            <a:spAutoFit/>
          </a:bodyPr>
          <a:lstStyle/>
          <a:p>
            <a:r>
              <a:rPr lang="zh-CN" altLang="en-US" sz="2400" b="1" dirty="0"/>
              <a:t>农民</a:t>
            </a:r>
            <a:endParaRPr lang="en-US" altLang="zh-CN" sz="2400" b="1" dirty="0"/>
          </a:p>
          <a:p>
            <a:r>
              <a:rPr lang="en-US" altLang="zh-CN" sz="2400" b="1" dirty="0"/>
              <a:t>farmer</a:t>
            </a:r>
            <a:endParaRPr lang="zh-CN" altLang="en-US" sz="2400" b="1" dirty="0"/>
          </a:p>
        </p:txBody>
      </p:sp>
      <p:sp>
        <p:nvSpPr>
          <p:cNvPr id="18" name="文本框 17"/>
          <p:cNvSpPr txBox="1"/>
          <p:nvPr/>
        </p:nvSpPr>
        <p:spPr>
          <a:xfrm>
            <a:off x="10419953" y="4839768"/>
            <a:ext cx="1511227" cy="830997"/>
          </a:xfrm>
          <a:prstGeom prst="rect">
            <a:avLst/>
          </a:prstGeom>
          <a:noFill/>
        </p:spPr>
        <p:txBody>
          <a:bodyPr wrap="square" rtlCol="0">
            <a:spAutoFit/>
          </a:bodyPr>
          <a:lstStyle/>
          <a:p>
            <a:r>
              <a:rPr lang="zh-CN" altLang="en-US" sz="2400" b="1" dirty="0"/>
              <a:t>工人</a:t>
            </a:r>
            <a:r>
              <a:rPr lang="en-US" altLang="zh-CN" sz="2400" b="1" dirty="0"/>
              <a:t>worker</a:t>
            </a:r>
            <a:endParaRPr lang="zh-CN" altLang="en-US" sz="2400" b="1" dirty="0"/>
          </a:p>
        </p:txBody>
      </p:sp>
      <p:pic>
        <p:nvPicPr>
          <p:cNvPr id="1032" name="Picture 8" descr="古代商人素材图片免费下载-千库网"/>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861130" y="3197542"/>
            <a:ext cx="2271535" cy="2271535"/>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nvSpPr>
        <p:spPr>
          <a:xfrm>
            <a:off x="4791568" y="4851231"/>
            <a:ext cx="2067626" cy="830997"/>
          </a:xfrm>
          <a:prstGeom prst="rect">
            <a:avLst/>
          </a:prstGeom>
          <a:noFill/>
        </p:spPr>
        <p:txBody>
          <a:bodyPr wrap="square" rtlCol="0">
            <a:spAutoFit/>
          </a:bodyPr>
          <a:lstStyle/>
          <a:p>
            <a:r>
              <a:rPr lang="zh-CN" altLang="en-US" sz="2400" b="1" dirty="0"/>
              <a:t>商人</a:t>
            </a:r>
            <a:r>
              <a:rPr lang="en-US" altLang="zh-CN" sz="2400" b="1" dirty="0"/>
              <a:t>businessman</a:t>
            </a:r>
            <a:endParaRPr lang="zh-CN" altLang="en-US" sz="2400" b="1" dirty="0"/>
          </a:p>
        </p:txBody>
      </p:sp>
      <p:cxnSp>
        <p:nvCxnSpPr>
          <p:cNvPr id="23" name="直接箭头连接符 22"/>
          <p:cNvCxnSpPr/>
          <p:nvPr/>
        </p:nvCxnSpPr>
        <p:spPr>
          <a:xfrm flipH="1">
            <a:off x="3905424" y="6142606"/>
            <a:ext cx="4849701" cy="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09069" y="643647"/>
            <a:ext cx="936969" cy="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309067" y="1112239"/>
            <a:ext cx="93696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连接符: 曲线 27"/>
          <p:cNvCxnSpPr>
            <a:stCxn id="1028" idx="0"/>
            <a:endCxn id="1030" idx="1"/>
          </p:cNvCxnSpPr>
          <p:nvPr/>
        </p:nvCxnSpPr>
        <p:spPr>
          <a:xfrm rot="5400000" flipH="1" flipV="1">
            <a:off x="2237581" y="1263789"/>
            <a:ext cx="3295209" cy="2535857"/>
          </a:xfrm>
          <a:prstGeom prst="curved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309068" y="1607895"/>
            <a:ext cx="936969"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345318" y="388454"/>
            <a:ext cx="1854258" cy="461665"/>
          </a:xfrm>
          <a:prstGeom prst="rect">
            <a:avLst/>
          </a:prstGeom>
          <a:noFill/>
        </p:spPr>
        <p:txBody>
          <a:bodyPr wrap="square" rtlCol="0">
            <a:spAutoFit/>
          </a:bodyPr>
          <a:lstStyle/>
          <a:p>
            <a:r>
              <a:rPr lang="zh-CN" altLang="en-US" sz="2400" b="1" dirty="0">
                <a:solidFill>
                  <a:srgbClr val="0070C0"/>
                </a:solidFill>
              </a:rPr>
              <a:t>食物 </a:t>
            </a:r>
            <a:r>
              <a:rPr lang="en-US" altLang="zh-CN" sz="2400" b="1" dirty="0">
                <a:solidFill>
                  <a:srgbClr val="0070C0"/>
                </a:solidFill>
              </a:rPr>
              <a:t>FOOD</a:t>
            </a:r>
            <a:endParaRPr lang="zh-CN" altLang="en-US" sz="2400" b="1" dirty="0">
              <a:solidFill>
                <a:srgbClr val="0070C0"/>
              </a:solidFill>
            </a:endParaRPr>
          </a:p>
        </p:txBody>
      </p:sp>
      <p:sp>
        <p:nvSpPr>
          <p:cNvPr id="37" name="文本框 36"/>
          <p:cNvSpPr txBox="1"/>
          <p:nvPr/>
        </p:nvSpPr>
        <p:spPr>
          <a:xfrm>
            <a:off x="1345318" y="884111"/>
            <a:ext cx="2271534" cy="461665"/>
          </a:xfrm>
          <a:prstGeom prst="rect">
            <a:avLst/>
          </a:prstGeom>
          <a:noFill/>
        </p:spPr>
        <p:txBody>
          <a:bodyPr wrap="square" rtlCol="0">
            <a:spAutoFit/>
          </a:bodyPr>
          <a:lstStyle/>
          <a:p>
            <a:r>
              <a:rPr lang="zh-CN" altLang="en-US" sz="2400" b="1" dirty="0">
                <a:solidFill>
                  <a:srgbClr val="FF0000"/>
                </a:solidFill>
              </a:rPr>
              <a:t>产品 </a:t>
            </a:r>
            <a:r>
              <a:rPr lang="en-US" altLang="zh-CN" sz="2400" b="1" dirty="0">
                <a:solidFill>
                  <a:srgbClr val="FF0000"/>
                </a:solidFill>
              </a:rPr>
              <a:t>PRODUCT</a:t>
            </a:r>
            <a:endParaRPr lang="zh-CN" altLang="en-US" sz="2400" b="1" dirty="0">
              <a:solidFill>
                <a:srgbClr val="FF0000"/>
              </a:solidFill>
            </a:endParaRPr>
          </a:p>
        </p:txBody>
      </p:sp>
      <p:sp>
        <p:nvSpPr>
          <p:cNvPr id="38" name="文本框 37"/>
          <p:cNvSpPr txBox="1"/>
          <p:nvPr/>
        </p:nvSpPr>
        <p:spPr>
          <a:xfrm>
            <a:off x="1345318" y="1389737"/>
            <a:ext cx="1854258" cy="461665"/>
          </a:xfrm>
          <a:prstGeom prst="rect">
            <a:avLst/>
          </a:prstGeom>
          <a:noFill/>
        </p:spPr>
        <p:txBody>
          <a:bodyPr wrap="square" rtlCol="0">
            <a:spAutoFit/>
          </a:bodyPr>
          <a:lstStyle/>
          <a:p>
            <a:r>
              <a:rPr lang="zh-CN" altLang="en-US" sz="2400" b="1" dirty="0">
                <a:solidFill>
                  <a:srgbClr val="00B050"/>
                </a:solidFill>
              </a:rPr>
              <a:t>税收 </a:t>
            </a:r>
            <a:r>
              <a:rPr lang="en-US" altLang="zh-CN" sz="2400" b="1" dirty="0">
                <a:solidFill>
                  <a:srgbClr val="00B050"/>
                </a:solidFill>
              </a:rPr>
              <a:t>TAX</a:t>
            </a:r>
            <a:endParaRPr lang="zh-CN" altLang="en-US" sz="2400" b="1" dirty="0">
              <a:solidFill>
                <a:srgbClr val="00B050"/>
              </a:solidFill>
            </a:endParaRPr>
          </a:p>
        </p:txBody>
      </p:sp>
      <p:sp>
        <p:nvSpPr>
          <p:cNvPr id="39" name="文本框 38"/>
          <p:cNvSpPr txBox="1"/>
          <p:nvPr/>
        </p:nvSpPr>
        <p:spPr>
          <a:xfrm>
            <a:off x="2897823" y="2813404"/>
            <a:ext cx="605953" cy="461665"/>
          </a:xfrm>
          <a:prstGeom prst="rect">
            <a:avLst/>
          </a:prstGeom>
          <a:noFill/>
        </p:spPr>
        <p:txBody>
          <a:bodyPr wrap="square" rtlCol="0">
            <a:spAutoFit/>
          </a:bodyPr>
          <a:lstStyle/>
          <a:p>
            <a:r>
              <a:rPr lang="zh-CN" altLang="en-US" sz="2400" b="1" dirty="0">
                <a:solidFill>
                  <a:srgbClr val="00B050"/>
                </a:solidFill>
              </a:rPr>
              <a:t>①</a:t>
            </a:r>
            <a:endParaRPr lang="zh-CN" altLang="en-US" sz="2400" b="1" dirty="0">
              <a:solidFill>
                <a:srgbClr val="00B050"/>
              </a:solidFill>
            </a:endParaRPr>
          </a:p>
        </p:txBody>
      </p:sp>
      <p:sp>
        <p:nvSpPr>
          <p:cNvPr id="40" name="文本框 39"/>
          <p:cNvSpPr txBox="1"/>
          <p:nvPr/>
        </p:nvSpPr>
        <p:spPr>
          <a:xfrm>
            <a:off x="8435497" y="2890140"/>
            <a:ext cx="605953" cy="461665"/>
          </a:xfrm>
          <a:prstGeom prst="rect">
            <a:avLst/>
          </a:prstGeom>
          <a:noFill/>
        </p:spPr>
        <p:txBody>
          <a:bodyPr wrap="square" rtlCol="0">
            <a:spAutoFit/>
          </a:bodyPr>
          <a:lstStyle/>
          <a:p>
            <a:r>
              <a:rPr lang="zh-CN" altLang="en-US" sz="2400" b="1" dirty="0">
                <a:solidFill>
                  <a:srgbClr val="00B050"/>
                </a:solidFill>
              </a:rPr>
              <a:t>②</a:t>
            </a:r>
            <a:endParaRPr lang="zh-CN" altLang="en-US" sz="2400" b="1" dirty="0">
              <a:solidFill>
                <a:srgbClr val="00B05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三个参数描绘个体 </a:t>
            </a:r>
            <a:r>
              <a:rPr lang="en-US" altLang="zh-CN" dirty="0"/>
              <a:t>Three parameters </a:t>
            </a:r>
            <a:endParaRPr lang="zh-CN" altLang="en-US" dirty="0"/>
          </a:p>
        </p:txBody>
      </p:sp>
      <p:sp>
        <p:nvSpPr>
          <p:cNvPr id="3" name="内容占位符 2"/>
          <p:cNvSpPr>
            <a:spLocks noGrp="1"/>
          </p:cNvSpPr>
          <p:nvPr>
            <p:ph idx="1"/>
          </p:nvPr>
        </p:nvSpPr>
        <p:spPr>
          <a:xfrm>
            <a:off x="838200" y="1825625"/>
            <a:ext cx="10515600" cy="4848640"/>
          </a:xfrm>
        </p:spPr>
        <p:txBody>
          <a:bodyPr>
            <a:normAutofit lnSpcReduction="10000"/>
          </a:bodyPr>
          <a:lstStyle/>
          <a:p>
            <a:r>
              <a:rPr lang="zh-CN" altLang="en-US" dirty="0"/>
              <a:t>食物</a:t>
            </a:r>
            <a:r>
              <a:rPr lang="en-US" altLang="zh-CN" dirty="0"/>
              <a:t>FOOD</a:t>
            </a:r>
            <a:r>
              <a:rPr lang="zh-CN" altLang="en-US" dirty="0"/>
              <a:t>：农民生产，必需品，可储存，作为货币。</a:t>
            </a:r>
            <a:endParaRPr lang="en-US" altLang="zh-CN" dirty="0"/>
          </a:p>
          <a:p>
            <a:pPr marL="0" indent="0">
              <a:lnSpc>
                <a:spcPct val="100000"/>
              </a:lnSpc>
              <a:buNone/>
            </a:pPr>
            <a:r>
              <a:rPr lang="en-US" altLang="zh-CN" sz="2400" dirty="0"/>
              <a:t>Farmers produce, necessities, can be stored, as money.</a:t>
            </a:r>
            <a:endParaRPr lang="en-US" altLang="zh-CN" sz="2400" dirty="0"/>
          </a:p>
          <a:p>
            <a:r>
              <a:rPr lang="zh-CN" altLang="en-US" dirty="0"/>
              <a:t>产品</a:t>
            </a:r>
            <a:r>
              <a:rPr lang="en-US" altLang="zh-CN" dirty="0"/>
              <a:t>PRODUCT</a:t>
            </a:r>
            <a:r>
              <a:rPr lang="zh-CN" altLang="en-US" dirty="0"/>
              <a:t>：工人生产，必需品，奢侈品，可储存。</a:t>
            </a:r>
            <a:endParaRPr lang="en-US" altLang="zh-CN" dirty="0"/>
          </a:p>
          <a:p>
            <a:pPr marL="0" indent="0">
              <a:buNone/>
            </a:pPr>
            <a:r>
              <a:rPr lang="en-US" altLang="zh-CN" sz="2400" dirty="0"/>
              <a:t>Workers produce, necessities, luxuries, can be stored.</a:t>
            </a:r>
            <a:endParaRPr lang="en-US" altLang="zh-CN" sz="2400" dirty="0"/>
          </a:p>
          <a:p>
            <a:r>
              <a:rPr lang="zh-CN" altLang="en-US" dirty="0"/>
              <a:t>满意度</a:t>
            </a:r>
            <a:r>
              <a:rPr lang="en-US" altLang="zh-CN" dirty="0"/>
              <a:t>SATISFACTORY</a:t>
            </a:r>
            <a:r>
              <a:rPr lang="zh-CN" altLang="en-US" dirty="0"/>
              <a:t>：每单位时间根据个体拥有的食物、产品进行计算。储量过低会降低满意度。同阶层内储量最低者也会降低满意度。满意度过低或过高会导致犯罪（不从事生产，降低周围人的满意度）</a:t>
            </a:r>
            <a:r>
              <a:rPr lang="en-US" altLang="zh-CN" sz="2400" dirty="0"/>
              <a:t>Each unit of time is calculated according to the food and products owned by the individual. Low reserves can reduce satisfaction. Those with the lowest reserves in the same class also reduce satisfaction. Too low or too high satisfaction can lead to crime (not engaging in production, reducing the satisfaction of those around you)</a:t>
            </a:r>
            <a:endParaRPr lang="zh-CN" alt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税收</a:t>
            </a:r>
            <a:r>
              <a:rPr lang="en-US" altLang="zh-CN" dirty="0"/>
              <a:t>TAX</a:t>
            </a:r>
            <a:endParaRPr lang="zh-CN" altLang="en-US" dirty="0"/>
          </a:p>
        </p:txBody>
      </p:sp>
      <p:sp>
        <p:nvSpPr>
          <p:cNvPr id="3" name="内容占位符 2"/>
          <p:cNvSpPr>
            <a:spLocks noGrp="1"/>
          </p:cNvSpPr>
          <p:nvPr>
            <p:ph idx="1"/>
          </p:nvPr>
        </p:nvSpPr>
        <p:spPr/>
        <p:txBody>
          <a:bodyPr/>
          <a:lstStyle/>
          <a:p>
            <a:r>
              <a:rPr lang="zh-CN" altLang="en-US" dirty="0"/>
              <a:t>根据农民、工人和商人每年收入*不同的税率计算税额。</a:t>
            </a:r>
            <a:endParaRPr lang="en-US" altLang="zh-CN" dirty="0"/>
          </a:p>
          <a:p>
            <a:r>
              <a:rPr lang="zh-CN" altLang="en-US" dirty="0"/>
              <a:t>公务员工资和国库储备从税收中出。</a:t>
            </a:r>
            <a:endParaRPr lang="en-US" altLang="zh-CN" dirty="0"/>
          </a:p>
          <a:p>
            <a:r>
              <a:rPr lang="zh-CN" altLang="en-US" dirty="0"/>
              <a:t>由玩家设置</a:t>
            </a:r>
            <a:endParaRPr lang="en-US" altLang="zh-CN" dirty="0"/>
          </a:p>
          <a:p>
            <a:endParaRPr lang="en-US" altLang="zh-CN" dirty="0"/>
          </a:p>
          <a:p>
            <a:r>
              <a:rPr lang="en-US" altLang="zh-CN" dirty="0"/>
              <a:t>The tax is calculated based on the annual income * different tax rate of farmers,</a:t>
            </a:r>
            <a:r>
              <a:rPr lang="zh-CN" altLang="en-US" dirty="0"/>
              <a:t> </a:t>
            </a:r>
            <a:r>
              <a:rPr lang="en-US" altLang="zh-CN"/>
              <a:t>workers </a:t>
            </a:r>
            <a:r>
              <a:rPr lang="en-US" altLang="zh-CN" dirty="0"/>
              <a:t>and</a:t>
            </a:r>
            <a:r>
              <a:rPr lang="zh-CN" altLang="en-US" dirty="0"/>
              <a:t> </a:t>
            </a:r>
            <a:r>
              <a:rPr lang="en-US" altLang="zh-CN" dirty="0"/>
              <a:t>businessmen. </a:t>
            </a:r>
            <a:endParaRPr lang="en-US" altLang="zh-CN" dirty="0"/>
          </a:p>
          <a:p>
            <a:r>
              <a:rPr lang="en-US" altLang="zh-CN" dirty="0"/>
              <a:t>Civil servants' salaries and state reserves come out of taxes. </a:t>
            </a:r>
            <a:endParaRPr lang="en-US" altLang="zh-CN" dirty="0"/>
          </a:p>
          <a:p>
            <a:r>
              <a:rPr lang="en-US" altLang="zh-CN" dirty="0"/>
              <a:t>Set by the player</a:t>
            </a:r>
            <a:endParaRPr lang="en-US" altLang="zh-CN" dirty="0"/>
          </a:p>
          <a:p>
            <a:pPr marL="0" indent="0">
              <a:buNone/>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经济学</a:t>
            </a:r>
            <a:r>
              <a:rPr lang="en-US" altLang="zh-CN" dirty="0"/>
              <a:t>ECONOMICS</a:t>
            </a:r>
            <a:endParaRPr lang="zh-CN" altLang="en-US" dirty="0"/>
          </a:p>
        </p:txBody>
      </p:sp>
      <p:sp>
        <p:nvSpPr>
          <p:cNvPr id="3" name="内容占位符 2"/>
          <p:cNvSpPr>
            <a:spLocks noGrp="1"/>
          </p:cNvSpPr>
          <p:nvPr>
            <p:ph idx="1"/>
          </p:nvPr>
        </p:nvSpPr>
        <p:spPr/>
        <p:txBody>
          <a:bodyPr/>
          <a:lstStyle/>
          <a:p>
            <a:r>
              <a:rPr lang="zh-CN" altLang="en-US" dirty="0"/>
              <a:t>商人采用集合定价从工人处购买商品，之后固定价格卖给公务员，竞价方式卖给农民。</a:t>
            </a:r>
            <a:endParaRPr lang="en-US" altLang="zh-CN" dirty="0"/>
          </a:p>
          <a:p>
            <a:r>
              <a:rPr lang="zh-CN" altLang="en-US" dirty="0"/>
              <a:t>商人采用竞价方式从农民购买食物，之后固定价格卖给公务员，集合定价方式卖给工人。</a:t>
            </a:r>
            <a:endParaRPr lang="en-US" altLang="zh-CN" dirty="0"/>
          </a:p>
          <a:p>
            <a:r>
              <a:rPr lang="en-US" altLang="zh-CN" dirty="0"/>
              <a:t>Businessman </a:t>
            </a:r>
            <a:r>
              <a:rPr lang="en-US" altLang="zh-CN"/>
              <a:t>used collective </a:t>
            </a:r>
            <a:r>
              <a:rPr lang="en-US" altLang="zh-CN" dirty="0"/>
              <a:t>pricing to buy goods from workers, fixed prices to sell to civil servants, and bidding to farmers.</a:t>
            </a:r>
            <a:endParaRPr lang="en-US" altLang="zh-CN" dirty="0"/>
          </a:p>
          <a:p>
            <a:endParaRPr lang="en-US" altLang="zh-CN" dirty="0"/>
          </a:p>
          <a:p>
            <a:r>
              <a:rPr lang="en-US" altLang="zh-CN" dirty="0"/>
              <a:t>Merchants bought food from farmers by bidding, sold it to civil servants at fixed prices, and sold it to workers at collective pricing.</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1617</Words>
  <Application>WPS 演示</Application>
  <PresentationFormat>宽屏</PresentationFormat>
  <Paragraphs>61</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宋体</vt:lpstr>
      <vt:lpstr>Wingdings</vt:lpstr>
      <vt:lpstr>等线 Light</vt:lpstr>
      <vt:lpstr>等线</vt:lpstr>
      <vt:lpstr>微软雅黑</vt:lpstr>
      <vt:lpstr>Arial Unicode MS</vt:lpstr>
      <vt:lpstr>Calibri</vt:lpstr>
      <vt:lpstr>Office 主题​​</vt:lpstr>
      <vt:lpstr>模拟社会 Simulation society</vt:lpstr>
      <vt:lpstr>模拟经营游戏Business simulation game</vt:lpstr>
      <vt:lpstr>PowerPoint 演示文稿</vt:lpstr>
      <vt:lpstr>PowerPoint 演示文稿</vt:lpstr>
      <vt:lpstr>三个参数描绘个体 Three parameters </vt:lpstr>
      <vt:lpstr>税收TAX</vt:lpstr>
      <vt:lpstr>经济学ECONOMICS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得意尽欢</cp:lastModifiedBy>
  <cp:revision>14</cp:revision>
  <dcterms:created xsi:type="dcterms:W3CDTF">2023-07-25T01:15:00Z</dcterms:created>
  <dcterms:modified xsi:type="dcterms:W3CDTF">2026-03-11T06:21:59Z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50E8BA1777C44F3A82D894A6AB1B8025_12</vt:lpwstr>
  </property>
  <property fmtid="{D5CDD505-2E9C-101B-9397-08002B2CF9AE}" pid="3" name="KSOProductBuildVer">
    <vt:lpwstr>2052-12.1.0.25225</vt:lpwstr>
  </property>
</Properties>
</file>